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使用者提供之 2026年度大會_講者介紹.pptx；講者照片與 Broome Yasar Logo 取自原檔。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使用者提供之 2026年度大會_講者介紹.pptx；講者照片與 ABIRD Logo 取自原檔。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使用者提供之 2026年度大會_講者介紹.pptx；講者照片與臺灣碳權交易所 Logo 取自原檔。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0E81E34-8C10-4124-B633-9CC6BB1B8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BB7BE4-FFCD-4EDC-8120-5F18EACE0CD4}"/>
              </a:ext>
            </a:extLst>
          </p:cNvPr>
          <p:cNvSpPr>
            <a:spLocks noGrp="1"/>
          </p:cNvSpPr>
          <p:nvPr/>
        </p:nvSpPr>
        <p:spPr>
          <a:xfrm>
            <a:off x="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3" name="平行四邊形 2">
            <a:extLst>
              <a:ext uri="{FF2B5EF4-FFF2-40B4-BE49-F238E27FC236}">
                <a16:creationId xmlns:a16="http://schemas.microsoft.com/office/drawing/2014/main" id="{8B65ABE9-E691-48BF-95A1-8D0595C0BBE0}"/>
              </a:ext>
            </a:extLst>
          </p:cNvPr>
          <p:cNvSpPr>
            <a:spLocks noGrp="1"/>
          </p:cNvSpPr>
          <p:nvPr/>
        </p:nvSpPr>
        <p:spPr>
          <a:xfrm>
            <a:off x="114300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D8A3DB-1A31-4704-B412-C4BDAC2DE412}"/>
              </a:ext>
            </a:extLst>
          </p:cNvPr>
          <p:cNvSpPr>
            <a:spLocks noGrp="1"/>
          </p:cNvSpPr>
          <p:nvPr/>
        </p:nvSpPr>
        <p:spPr>
          <a:xfrm>
            <a:off x="752475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2C565923-3832-4353-8005-809384CD1691}"/>
              </a:ext>
            </a:extLst>
          </p:cNvPr>
          <p:cNvSpPr>
            <a:spLocks noGrp="1"/>
          </p:cNvSpPr>
          <p:nvPr/>
        </p:nvSpPr>
        <p:spPr>
          <a:xfrm>
            <a:off x="695325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856398-EC58-426C-AD5A-2895274CF29B}"/>
              </a:ext>
            </a:extLst>
          </p:cNvPr>
          <p:cNvSpPr>
            <a:spLocks noGrp="1"/>
          </p:cNvSpPr>
          <p:nvPr/>
        </p:nvSpPr>
        <p:spPr>
          <a:xfrm>
            <a:off x="438150" y="1097496"/>
            <a:ext cx="826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6F2B80"/>
                </a:solidFill>
              </a:defRPr>
            </a:pPr>
            <a:r>
              <a:rPr sz="3200" b="1" i="0" dirty="0">
                <a:solidFill>
                  <a:srgbClr val="6F2B80"/>
                </a:solidFill>
              </a:rPr>
              <a:t>2026 </a:t>
            </a:r>
            <a:r>
              <a:rPr sz="3200" b="1" i="0" dirty="0" err="1">
                <a:solidFill>
                  <a:srgbClr val="6F2B80"/>
                </a:solidFill>
              </a:rPr>
              <a:t>年度大會暨</a:t>
            </a:r>
            <a:r>
              <a:rPr sz="3200" b="1" i="0" dirty="0">
                <a:solidFill>
                  <a:srgbClr val="6F2B80"/>
                </a:solidFill>
              </a:rPr>
              <a:t> IR </a:t>
            </a:r>
            <a:r>
              <a:rPr sz="3200" b="1" i="0" dirty="0" err="1">
                <a:solidFill>
                  <a:srgbClr val="6F2B80"/>
                </a:solidFill>
              </a:rPr>
              <a:t>新溝通時代</a:t>
            </a:r>
            <a:endParaRPr sz="3200" b="1" i="0" dirty="0">
              <a:solidFill>
                <a:srgbClr val="6F2B8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FE8E79-5B69-407F-8026-C2B70FCCDB24}"/>
              </a:ext>
            </a:extLst>
          </p:cNvPr>
          <p:cNvSpPr>
            <a:spLocks noGrp="1"/>
          </p:cNvSpPr>
          <p:nvPr/>
        </p:nvSpPr>
        <p:spPr>
          <a:xfrm>
            <a:off x="495300" y="1620307"/>
            <a:ext cx="8153400" cy="19050"/>
          </a:xfrm>
          <a:prstGeom prst="rect">
            <a:avLst/>
          </a:prstGeom>
          <a:solidFill>
            <a:srgbClr val="6F2B80"/>
          </a:solidFill>
          <a:ln w="0">
            <a:noFill/>
            <a:prstDash val="solid"/>
          </a:ln>
        </p:spPr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4925" y="5010831"/>
            <a:ext cx="1443794" cy="132363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A1D34C4-035A-4039-BE23-6B4DA5FDF294}"/>
              </a:ext>
            </a:extLst>
          </p:cNvPr>
          <p:cNvSpPr>
            <a:spLocks noGrp="1"/>
          </p:cNvSpPr>
          <p:nvPr/>
        </p:nvSpPr>
        <p:spPr>
          <a:xfrm>
            <a:off x="3143250" y="1633009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6F2B80"/>
                </a:solidFill>
              </a:defRPr>
            </a:pPr>
            <a:r>
              <a:rPr sz="2800" b="1" i="0" dirty="0">
                <a:solidFill>
                  <a:srgbClr val="6F2B80"/>
                </a:solidFill>
              </a:rPr>
              <a:t>Oskar Yasar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F0511-473A-4332-884E-297E990A3004}"/>
              </a:ext>
            </a:extLst>
          </p:cNvPr>
          <p:cNvSpPr>
            <a:spLocks noGrp="1"/>
          </p:cNvSpPr>
          <p:nvPr/>
        </p:nvSpPr>
        <p:spPr>
          <a:xfrm>
            <a:off x="3143250" y="1985434"/>
            <a:ext cx="6122456" cy="227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E5A916"/>
                </a:solidFill>
              </a:defRPr>
            </a:pPr>
            <a:r>
              <a:rPr sz="2000" b="1" i="0" dirty="0">
                <a:solidFill>
                  <a:srgbClr val="E5A91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Broome Yasar </a:t>
            </a:r>
            <a:r>
              <a:rPr sz="2000" b="1" i="0" dirty="0" err="1">
                <a:solidFill>
                  <a:srgbClr val="E5A91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管理合夥人（Managing</a:t>
            </a:r>
            <a:r>
              <a:rPr sz="2000" b="1" i="0" dirty="0">
                <a:solidFill>
                  <a:srgbClr val="E5A91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Partner）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437A15-25BF-4606-9463-2824E65D31CD}"/>
              </a:ext>
            </a:extLst>
          </p:cNvPr>
          <p:cNvSpPr>
            <a:spLocks noGrp="1"/>
          </p:cNvSpPr>
          <p:nvPr/>
        </p:nvSpPr>
        <p:spPr>
          <a:xfrm>
            <a:off x="3143250" y="2530481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r>
              <a:rPr sz="1600" b="1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與企業溝通資歷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632F0A-B6C8-482F-B3D6-8DB4DEB10229}"/>
              </a:ext>
            </a:extLst>
          </p:cNvPr>
          <p:cNvSpPr>
            <a:spLocks noGrp="1"/>
          </p:cNvSpPr>
          <p:nvPr/>
        </p:nvSpPr>
        <p:spPr>
          <a:xfrm>
            <a:off x="3143250" y="2797181"/>
            <a:ext cx="5572125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深耕全球投資人關係（IR）與企業溝通高階顧問領域逾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30 年</a:t>
            </a:r>
          </a:p>
          <a:p>
            <a:pPr algn="l">
              <a:defRPr sz="1125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累積主導近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600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位國際市場高階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與企業溝通主管招募與顧問案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125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被國際市場視為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高階人才與全球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趨勢觀察的重要代表人物之一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09AC2D-9E8C-4FF4-B8D2-2C917667EB01}"/>
              </a:ext>
            </a:extLst>
          </p:cNvPr>
          <p:cNvSpPr>
            <a:spLocks noGrp="1"/>
          </p:cNvSpPr>
          <p:nvPr/>
        </p:nvSpPr>
        <p:spPr>
          <a:xfrm>
            <a:off x="3143250" y="3728509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國際著作與觀點影響力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62FD30-CBA3-4180-BB9E-47C84C464CD0}"/>
              </a:ext>
            </a:extLst>
          </p:cNvPr>
          <p:cNvSpPr>
            <a:spLocks noGrp="1"/>
          </p:cNvSpPr>
          <p:nvPr/>
        </p:nvSpPr>
        <p:spPr>
          <a:xfrm>
            <a:off x="3143250" y="3995209"/>
            <a:ext cx="5687483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《The Global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Revolution》作者：探討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由資訊揭露轉型為企業核心策略功</a:t>
            </a:r>
            <a:endParaRPr lang="en-US"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lang="zh-TW" altLang="en-US" sz="120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能，涵蓋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ESG、AI、股東行動主義與全球資本市場趨勢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即將出版《Stand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Out or Stand Aside》，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聚焦高階主管個人品牌與領導影響力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創立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Global Federation of Investor Relations Associations and Professionals</a:t>
            </a:r>
            <a:r>
              <a:rPr lang="zh-TW" altLang="en-US"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lang="zh-TW" altLang="en-US" sz="120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串聯全球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協會與專業人士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9D2651-7DCA-4795-814C-9291E132D2F7}"/>
              </a:ext>
            </a:extLst>
          </p:cNvPr>
          <p:cNvSpPr>
            <a:spLocks noGrp="1"/>
          </p:cNvSpPr>
          <p:nvPr/>
        </p:nvSpPr>
        <p:spPr>
          <a:xfrm>
            <a:off x="3143250" y="5177369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對台灣金融與資本市場之潛在價值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3240DE-9370-48EC-8072-516192453DAE}"/>
              </a:ext>
            </a:extLst>
          </p:cNvPr>
          <p:cNvSpPr>
            <a:spLocks noGrp="1"/>
          </p:cNvSpPr>
          <p:nvPr/>
        </p:nvSpPr>
        <p:spPr>
          <a:xfrm>
            <a:off x="3143250" y="5444069"/>
            <a:ext cx="5572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提升台灣資本市場與國際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社群之連結與能見度，帶入全球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IR、ESG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與企業</a:t>
            </a:r>
            <a:endParaRPr lang="en-US"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lang="zh-TW" altLang="en-US" sz="120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溝通最新趨勢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適合作為金融機構高階交流、IR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人才培育與國際論壇合作主題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4FC451-BE26-4CBE-B0B8-4C5117D18EEF}"/>
              </a:ext>
            </a:extLst>
          </p:cNvPr>
          <p:cNvSpPr>
            <a:spLocks noGrp="1"/>
          </p:cNvSpPr>
          <p:nvPr/>
        </p:nvSpPr>
        <p:spPr>
          <a:xfrm>
            <a:off x="3693581" y="6377472"/>
            <a:ext cx="557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zh-TW" altLang="en-US" sz="1200" dirty="0"/>
              <a:t>https://www.linkedin.com/in/oskaryasar/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0FBA98E-3B6A-80F4-A165-EE1C9B2DC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93"/>
          <a:stretch>
            <a:fillRect/>
          </a:stretch>
        </p:blipFill>
        <p:spPr>
          <a:xfrm>
            <a:off x="313267" y="1795379"/>
            <a:ext cx="2264671" cy="252877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55760244-AF98-2ABF-A10A-84CF6939B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837" y="6254707"/>
            <a:ext cx="314744" cy="333422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232ACA1E-FAFB-D1F5-9654-D1C3A9352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81" y="4638474"/>
            <a:ext cx="1178290" cy="188771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8BBD09BE-9DB2-878F-ACBA-682E3DC279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83" y="0"/>
            <a:ext cx="1445684" cy="117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5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E55AA92-A26B-4AF9-8C88-E7B310494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625" y="2002368"/>
            <a:ext cx="2381250" cy="23812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6F957D6-EA6E-4839-A985-70D19D40021C}"/>
              </a:ext>
            </a:extLst>
          </p:cNvPr>
          <p:cNvSpPr>
            <a:spLocks noGrp="1"/>
          </p:cNvSpPr>
          <p:nvPr/>
        </p:nvSpPr>
        <p:spPr>
          <a:xfrm>
            <a:off x="3143250" y="1607617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6F2B80"/>
                </a:solidFill>
              </a:defRPr>
            </a:pPr>
            <a:r>
              <a:rPr sz="2800" b="1" i="0" dirty="0">
                <a:solidFill>
                  <a:srgbClr val="6F2B80"/>
                </a:solidFill>
              </a:rPr>
              <a:t>Daniela Peeva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89A6B7-5A7B-43D3-ADDD-122E1CB6DEB4}"/>
              </a:ext>
            </a:extLst>
          </p:cNvPr>
          <p:cNvSpPr>
            <a:spLocks noGrp="1"/>
          </p:cNvSpPr>
          <p:nvPr/>
        </p:nvSpPr>
        <p:spPr>
          <a:xfrm>
            <a:off x="3143250" y="2002376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E5A916"/>
                </a:solidFill>
              </a:defRPr>
            </a:pPr>
            <a:r>
              <a:rPr sz="2000" b="1" i="0" dirty="0" err="1">
                <a:solidFill>
                  <a:srgbClr val="E5A91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保加利亞投資人關係協會（ABIRD）理事長</a:t>
            </a:r>
            <a:endParaRPr sz="2000" b="1" i="0" dirty="0">
              <a:solidFill>
                <a:srgbClr val="E5A91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67C4D3-1102-4BDC-8D2E-E045B5F06D4B}"/>
              </a:ext>
            </a:extLst>
          </p:cNvPr>
          <p:cNvSpPr>
            <a:spLocks noGrp="1"/>
          </p:cNvSpPr>
          <p:nvPr/>
        </p:nvSpPr>
        <p:spPr>
          <a:xfrm>
            <a:off x="3143250" y="2657482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歐洲</a:t>
            </a:r>
            <a:r>
              <a:rPr sz="1600" b="1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 與 ESG </a:t>
            </a: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治理代表人物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D71861-FD3A-492F-81F2-D27FF378190D}"/>
              </a:ext>
            </a:extLst>
          </p:cNvPr>
          <p:cNvSpPr>
            <a:spLocks noGrp="1"/>
          </p:cNvSpPr>
          <p:nvPr/>
        </p:nvSpPr>
        <p:spPr>
          <a:xfrm>
            <a:off x="3143250" y="2924182"/>
            <a:ext cx="557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自 2005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年起擔任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ABIRD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理事長，並任保加利亞公司治理委員會理事長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125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長期推動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IR、ESG、公司治理與歐洲資本市場發展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610241-C685-4EEE-A184-8862F060B07F}"/>
              </a:ext>
            </a:extLst>
          </p:cNvPr>
          <p:cNvSpPr>
            <a:spLocks noGrp="1"/>
          </p:cNvSpPr>
          <p:nvPr/>
        </p:nvSpPr>
        <p:spPr>
          <a:xfrm>
            <a:off x="3143250" y="3566587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深度參與歐盟監管與永續政策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ED150A-52D5-4467-83B7-3D4FA7D2131B}"/>
              </a:ext>
            </a:extLst>
          </p:cNvPr>
          <p:cNvSpPr>
            <a:spLocks noGrp="1"/>
          </p:cNvSpPr>
          <p:nvPr/>
        </p:nvSpPr>
        <p:spPr>
          <a:xfrm>
            <a:off x="3143250" y="3833287"/>
            <a:ext cx="564515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前歐洲證券及市場管理局（ESMA）顧問工作小組成員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歐盟資本市場聯盟（Capital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Markets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Union）高階論壇成員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參與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CSRD、ESG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Reporting、公司治理、中小企業融資與永續金融架構等議題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A7C03F-66B0-46F9-846B-237AF0D66289}"/>
              </a:ext>
            </a:extLst>
          </p:cNvPr>
          <p:cNvSpPr>
            <a:spLocks noGrp="1"/>
          </p:cNvSpPr>
          <p:nvPr/>
        </p:nvSpPr>
        <p:spPr>
          <a:xfrm>
            <a:off x="3143250" y="4749800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歐洲央行與國際市場合作經驗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D75DCE-9363-4C9B-9266-46EB2493E089}"/>
              </a:ext>
            </a:extLst>
          </p:cNvPr>
          <p:cNvSpPr>
            <a:spLocks noGrp="1"/>
          </p:cNvSpPr>
          <p:nvPr/>
        </p:nvSpPr>
        <p:spPr>
          <a:xfrm>
            <a:off x="3143250" y="5016500"/>
            <a:ext cx="557212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參與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European Central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Bank（ECB）市場基礎設施工作小組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推動資本市場透明化、跨市場資訊揭露、Corporate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Events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標準化及證券市場</a:t>
            </a:r>
            <a:endParaRPr lang="en-US"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lang="zh-TW" altLang="en-US" sz="120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治理整合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具備歐洲、美國與新興市場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IR、ESG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領域之廣泛國際人脈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EAAA03-3347-477D-997C-E1365CFE2091}"/>
              </a:ext>
            </a:extLst>
          </p:cNvPr>
          <p:cNvSpPr>
            <a:spLocks noGrp="1"/>
          </p:cNvSpPr>
          <p:nvPr/>
        </p:nvSpPr>
        <p:spPr>
          <a:xfrm>
            <a:off x="3143250" y="5953125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ESG </a:t>
            </a: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與資本市場實務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A6070C-76D7-46AD-AD12-CDCA098C568F}"/>
              </a:ext>
            </a:extLst>
          </p:cNvPr>
          <p:cNvSpPr>
            <a:spLocks noGrp="1"/>
          </p:cNvSpPr>
          <p:nvPr/>
        </p:nvSpPr>
        <p:spPr>
          <a:xfrm>
            <a:off x="3143250" y="6219825"/>
            <a:ext cx="564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F2B80"/>
                </a:solidFill>
              </a:defRPr>
            </a:pP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創辦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Investor Relations Services Ltd.，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累積超過</a:t>
            </a:r>
            <a:r>
              <a:rPr sz="120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EUR 3.5 </a:t>
            </a:r>
            <a:r>
              <a:rPr sz="12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億資本市場實務經驗</a:t>
            </a:r>
            <a:endParaRPr sz="120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41930CD-915F-7014-79FC-B99473883019}"/>
              </a:ext>
            </a:extLst>
          </p:cNvPr>
          <p:cNvSpPr>
            <a:spLocks noGrp="1"/>
          </p:cNvSpPr>
          <p:nvPr/>
        </p:nvSpPr>
        <p:spPr>
          <a:xfrm>
            <a:off x="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41" name="平行四邊形 40">
            <a:extLst>
              <a:ext uri="{FF2B5EF4-FFF2-40B4-BE49-F238E27FC236}">
                <a16:creationId xmlns:a16="http://schemas.microsoft.com/office/drawing/2014/main" id="{09D874B5-98E2-3AD2-DAD9-3F285E0F86D3}"/>
              </a:ext>
            </a:extLst>
          </p:cNvPr>
          <p:cNvSpPr>
            <a:spLocks noGrp="1"/>
          </p:cNvSpPr>
          <p:nvPr/>
        </p:nvSpPr>
        <p:spPr>
          <a:xfrm>
            <a:off x="114300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6096060-D534-F2D0-BDAA-C1200D14589C}"/>
              </a:ext>
            </a:extLst>
          </p:cNvPr>
          <p:cNvSpPr>
            <a:spLocks noGrp="1"/>
          </p:cNvSpPr>
          <p:nvPr/>
        </p:nvSpPr>
        <p:spPr>
          <a:xfrm>
            <a:off x="752475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45" name="平行四邊形 44">
            <a:extLst>
              <a:ext uri="{FF2B5EF4-FFF2-40B4-BE49-F238E27FC236}">
                <a16:creationId xmlns:a16="http://schemas.microsoft.com/office/drawing/2014/main" id="{6A8FB379-F60F-481E-7DB2-7B00F82CB1FC}"/>
              </a:ext>
            </a:extLst>
          </p:cNvPr>
          <p:cNvSpPr>
            <a:spLocks noGrp="1"/>
          </p:cNvSpPr>
          <p:nvPr/>
        </p:nvSpPr>
        <p:spPr>
          <a:xfrm>
            <a:off x="695325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6CEA5B9-BB49-B786-3495-1F8EF085EAC8}"/>
              </a:ext>
            </a:extLst>
          </p:cNvPr>
          <p:cNvSpPr>
            <a:spLocks noGrp="1"/>
          </p:cNvSpPr>
          <p:nvPr/>
        </p:nvSpPr>
        <p:spPr>
          <a:xfrm>
            <a:off x="438150" y="1097496"/>
            <a:ext cx="826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6F2B80"/>
                </a:solidFill>
              </a:defRPr>
            </a:pPr>
            <a:r>
              <a:rPr sz="3200" b="1" i="0" dirty="0">
                <a:solidFill>
                  <a:srgbClr val="6F2B80"/>
                </a:solidFill>
              </a:rPr>
              <a:t>2026 </a:t>
            </a:r>
            <a:r>
              <a:rPr sz="3200" b="1" i="0" dirty="0" err="1">
                <a:solidFill>
                  <a:srgbClr val="6F2B80"/>
                </a:solidFill>
              </a:rPr>
              <a:t>年度大會暨</a:t>
            </a:r>
            <a:r>
              <a:rPr sz="3200" b="1" i="0" dirty="0">
                <a:solidFill>
                  <a:srgbClr val="6F2B80"/>
                </a:solidFill>
              </a:rPr>
              <a:t> IR </a:t>
            </a:r>
            <a:r>
              <a:rPr sz="3200" b="1" i="0" dirty="0" err="1">
                <a:solidFill>
                  <a:srgbClr val="6F2B80"/>
                </a:solidFill>
              </a:rPr>
              <a:t>新溝通時代</a:t>
            </a:r>
            <a:endParaRPr sz="3200" b="1" i="0" dirty="0">
              <a:solidFill>
                <a:srgbClr val="6F2B80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17BA3B-03AE-1C96-8E70-CED67CAA30A8}"/>
              </a:ext>
            </a:extLst>
          </p:cNvPr>
          <p:cNvSpPr>
            <a:spLocks noGrp="1"/>
          </p:cNvSpPr>
          <p:nvPr/>
        </p:nvSpPr>
        <p:spPr>
          <a:xfrm>
            <a:off x="495300" y="1620307"/>
            <a:ext cx="8153400" cy="19050"/>
          </a:xfrm>
          <a:prstGeom prst="rect">
            <a:avLst/>
          </a:prstGeom>
          <a:solidFill>
            <a:srgbClr val="6F2B80"/>
          </a:solidFill>
          <a:ln w="0">
            <a:noFill/>
            <a:prstDash val="solid"/>
          </a:ln>
        </p:spPr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A937F498-EA7A-246C-4D9E-F8D6E9DC9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83" y="0"/>
            <a:ext cx="1445684" cy="1175287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BADD101A-3A3F-3346-DE10-7558C7022E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08" y="4809620"/>
            <a:ext cx="1725084" cy="14329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3397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0EB1195-C4C3-406C-AEAF-8C3EB2146F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428625" y="1748365"/>
            <a:ext cx="2381250" cy="31908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31CD455-B19C-4F12-8DB4-BDF1A463D6D3}"/>
              </a:ext>
            </a:extLst>
          </p:cNvPr>
          <p:cNvSpPr>
            <a:spLocks noGrp="1"/>
          </p:cNvSpPr>
          <p:nvPr/>
        </p:nvSpPr>
        <p:spPr>
          <a:xfrm>
            <a:off x="3143250" y="1795990"/>
            <a:ext cx="542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6F2B80"/>
                </a:solidFill>
              </a:defRPr>
            </a:pPr>
            <a:r>
              <a:rPr sz="28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陳脩文</a:t>
            </a:r>
            <a:endParaRPr sz="28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2D6A00-370F-4246-B060-0757C35EE5C8}"/>
              </a:ext>
            </a:extLst>
          </p:cNvPr>
          <p:cNvSpPr>
            <a:spLocks noGrp="1"/>
          </p:cNvSpPr>
          <p:nvPr/>
        </p:nvSpPr>
        <p:spPr>
          <a:xfrm>
            <a:off x="3143250" y="2224615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E5A916"/>
                </a:solidFill>
              </a:defRPr>
            </a:pPr>
            <a:r>
              <a:rPr sz="2000" b="1" i="0" dirty="0" err="1">
                <a:solidFill>
                  <a:srgbClr val="E5A91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臺灣碳權交易所｜總經理</a:t>
            </a:r>
            <a:endParaRPr sz="2000" b="1" i="0" dirty="0">
              <a:solidFill>
                <a:srgbClr val="E5A91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0945E1-CFEC-439F-99F4-490927657490}"/>
              </a:ext>
            </a:extLst>
          </p:cNvPr>
          <p:cNvSpPr>
            <a:spLocks noGrp="1"/>
          </p:cNvSpPr>
          <p:nvPr/>
        </p:nvSpPr>
        <p:spPr>
          <a:xfrm>
            <a:off x="3133725" y="3061760"/>
            <a:ext cx="557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6F2B80"/>
                </a:solidFill>
              </a:defRPr>
            </a:pPr>
            <a:r>
              <a:rPr sz="16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經歷</a:t>
            </a:r>
            <a:endParaRPr sz="16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F64955-4366-498B-B0E4-DCBBEBA2A244}"/>
              </a:ext>
            </a:extLst>
          </p:cNvPr>
          <p:cNvSpPr>
            <a:spLocks noGrp="1"/>
          </p:cNvSpPr>
          <p:nvPr/>
        </p:nvSpPr>
        <p:spPr>
          <a:xfrm>
            <a:off x="3133725" y="3328460"/>
            <a:ext cx="557212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6F2B80"/>
                </a:solidFill>
              </a:defRPr>
            </a:pPr>
            <a:r>
              <a:rPr sz="135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35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臺灣碳權交易所－資深副總經理</a:t>
            </a:r>
            <a:endParaRPr sz="135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350" b="0" i="0">
                <a:solidFill>
                  <a:srgbClr val="6F2B80"/>
                </a:solidFill>
              </a:defRPr>
            </a:pPr>
            <a:r>
              <a:rPr sz="135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40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臺灣證券交易所</a:t>
            </a:r>
            <a:r>
              <a:rPr sz="135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－公司治理部副理、上市部組長</a:t>
            </a:r>
            <a:endParaRPr sz="135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defRPr sz="1350" b="0" i="0">
                <a:solidFill>
                  <a:srgbClr val="6F2B80"/>
                </a:solidFill>
              </a:defRPr>
            </a:pPr>
            <a:r>
              <a:rPr sz="1350" b="0" i="0" dirty="0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sz="1350" b="0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勤業眾信聯合會計師事務所－審計部副理</a:t>
            </a:r>
            <a:endParaRPr sz="1350" b="0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6DC8BE-85AA-4525-BF6F-C8963625AA00}"/>
              </a:ext>
            </a:extLst>
          </p:cNvPr>
          <p:cNvSpPr>
            <a:spLocks noGrp="1"/>
          </p:cNvSpPr>
          <p:nvPr/>
        </p:nvSpPr>
        <p:spPr>
          <a:xfrm>
            <a:off x="3238500" y="4339166"/>
            <a:ext cx="4762500" cy="19050"/>
          </a:xfrm>
          <a:prstGeom prst="rect">
            <a:avLst/>
          </a:prstGeom>
          <a:solidFill>
            <a:srgbClr val="D8C1DE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2D1405-AB76-4CAE-AA32-1FDD2AE2AD93}"/>
              </a:ext>
            </a:extLst>
          </p:cNvPr>
          <p:cNvSpPr>
            <a:spLocks noGrp="1"/>
          </p:cNvSpPr>
          <p:nvPr/>
        </p:nvSpPr>
        <p:spPr>
          <a:xfrm>
            <a:off x="3143250" y="462386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6F2B80"/>
                </a:solidFill>
              </a:defRPr>
            </a:pPr>
            <a:r>
              <a:rPr sz="1500" b="1" i="0" dirty="0" err="1">
                <a:solidFill>
                  <a:srgbClr val="6F2B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資本市場、公司治理與碳權交易實務經驗</a:t>
            </a:r>
            <a:endParaRPr sz="1500" b="1" i="0" dirty="0">
              <a:solidFill>
                <a:srgbClr val="6F2B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487D90-8C8F-1024-2875-07E4119035CC}"/>
              </a:ext>
            </a:extLst>
          </p:cNvPr>
          <p:cNvSpPr>
            <a:spLocks noGrp="1"/>
          </p:cNvSpPr>
          <p:nvPr/>
        </p:nvSpPr>
        <p:spPr>
          <a:xfrm>
            <a:off x="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21" name="平行四邊形 20">
            <a:extLst>
              <a:ext uri="{FF2B5EF4-FFF2-40B4-BE49-F238E27FC236}">
                <a16:creationId xmlns:a16="http://schemas.microsoft.com/office/drawing/2014/main" id="{BB0F9493-1386-CD4D-FC68-CD73005571E5}"/>
              </a:ext>
            </a:extLst>
          </p:cNvPr>
          <p:cNvSpPr>
            <a:spLocks noGrp="1"/>
          </p:cNvSpPr>
          <p:nvPr/>
        </p:nvSpPr>
        <p:spPr>
          <a:xfrm>
            <a:off x="114300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3797C6-D509-F70D-EF1A-CCA441331D32}"/>
              </a:ext>
            </a:extLst>
          </p:cNvPr>
          <p:cNvSpPr>
            <a:spLocks noGrp="1"/>
          </p:cNvSpPr>
          <p:nvPr/>
        </p:nvSpPr>
        <p:spPr>
          <a:xfrm>
            <a:off x="7524750" y="238125"/>
            <a:ext cx="1619250" cy="428625"/>
          </a:xfrm>
          <a:prstGeom prst="rect">
            <a:avLst/>
          </a:prstGeom>
          <a:solidFill>
            <a:srgbClr val="B20E91"/>
          </a:solidFill>
          <a:ln w="0">
            <a:noFill/>
            <a:prstDash val="solid"/>
          </a:ln>
        </p:spPr>
      </p:sp>
      <p:sp>
        <p:nvSpPr>
          <p:cNvPr id="25" name="平行四邊形 24">
            <a:extLst>
              <a:ext uri="{FF2B5EF4-FFF2-40B4-BE49-F238E27FC236}">
                <a16:creationId xmlns:a16="http://schemas.microsoft.com/office/drawing/2014/main" id="{86755F56-3DC6-CA4A-B456-87B345B7D322}"/>
              </a:ext>
            </a:extLst>
          </p:cNvPr>
          <p:cNvSpPr>
            <a:spLocks noGrp="1"/>
          </p:cNvSpPr>
          <p:nvPr/>
        </p:nvSpPr>
        <p:spPr>
          <a:xfrm>
            <a:off x="6953250" y="238125"/>
            <a:ext cx="1047750" cy="428625"/>
          </a:xfrm>
          <a:prstGeom prst="parallelogram">
            <a:avLst/>
          </a:prstGeom>
          <a:solidFill>
            <a:srgbClr val="8E178D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757954-5B31-6B76-F8E1-8FFDCC2CA966}"/>
              </a:ext>
            </a:extLst>
          </p:cNvPr>
          <p:cNvSpPr>
            <a:spLocks noGrp="1"/>
          </p:cNvSpPr>
          <p:nvPr/>
        </p:nvSpPr>
        <p:spPr>
          <a:xfrm>
            <a:off x="438150" y="1097496"/>
            <a:ext cx="826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6F2B80"/>
                </a:solidFill>
              </a:defRPr>
            </a:pPr>
            <a:r>
              <a:rPr sz="3200" b="1" i="0" dirty="0">
                <a:solidFill>
                  <a:srgbClr val="6F2B80"/>
                </a:solidFill>
              </a:rPr>
              <a:t>2026 </a:t>
            </a:r>
            <a:r>
              <a:rPr sz="3200" b="1" i="0" dirty="0" err="1">
                <a:solidFill>
                  <a:srgbClr val="6F2B80"/>
                </a:solidFill>
              </a:rPr>
              <a:t>年度大會暨</a:t>
            </a:r>
            <a:r>
              <a:rPr sz="3200" b="1" i="0" dirty="0">
                <a:solidFill>
                  <a:srgbClr val="6F2B80"/>
                </a:solidFill>
              </a:rPr>
              <a:t> IR </a:t>
            </a:r>
            <a:r>
              <a:rPr sz="3200" b="1" i="0" dirty="0" err="1">
                <a:solidFill>
                  <a:srgbClr val="6F2B80"/>
                </a:solidFill>
              </a:rPr>
              <a:t>新溝通時代</a:t>
            </a:r>
            <a:endParaRPr sz="3200" b="1" i="0" dirty="0">
              <a:solidFill>
                <a:srgbClr val="6F2B8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DCADE66-388F-3FC8-AE4B-AA07669A1804}"/>
              </a:ext>
            </a:extLst>
          </p:cNvPr>
          <p:cNvSpPr>
            <a:spLocks noGrp="1"/>
          </p:cNvSpPr>
          <p:nvPr/>
        </p:nvSpPr>
        <p:spPr>
          <a:xfrm>
            <a:off x="495300" y="1620307"/>
            <a:ext cx="8153400" cy="19050"/>
          </a:xfrm>
          <a:prstGeom prst="rect">
            <a:avLst/>
          </a:prstGeom>
          <a:solidFill>
            <a:srgbClr val="6F2B80"/>
          </a:solidFill>
          <a:ln w="0">
            <a:noFill/>
            <a:prstDash val="solid"/>
          </a:ln>
        </p:spPr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FC55D53C-1B09-BFA7-7F9E-5BE01ADF7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83" y="0"/>
            <a:ext cx="1445684" cy="117528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75E8614A-5D2A-DAEB-B193-DED2A9ACC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19" y="5000625"/>
            <a:ext cx="2764911" cy="164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4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311</Words>
  <Application>Microsoft Office PowerPoint</Application>
  <DocSecurity>0</DocSecurity>
  <PresentationFormat>如螢幕大小 (4:3)</PresentationFormat>
  <Paragraphs>52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微軟正黑體</vt:lpstr>
      <vt:lpstr>Calibri</vt:lpstr>
      <vt:lpstr>ChatGPT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Mia H</cp:lastModifiedBy>
  <cp:revision>4</cp:revision>
  <dcterms:created xsi:type="dcterms:W3CDTF">2026-09-01T09:51:54Z</dcterms:created>
  <dcterms:modified xsi:type="dcterms:W3CDTF">2026-09-01T10:13:34Z</dcterms:modified>
</cp:coreProperties>
</file>